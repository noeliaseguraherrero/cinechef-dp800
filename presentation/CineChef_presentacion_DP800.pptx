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2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B2F"/>
                </a:solidFill>
                <a:latin typeface="Arial"/>
              </a:rPr>
              <a:t>Búsqueda: MRR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Texto</c:v>
                  </c:pt>
                  <c:pt idx="1">
                    <c:v>Híbrida</c:v>
                  </c:pt>
                  <c:pt idx="2">
                    <c:v>Vector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</c:v>
                </c:pt>
                <c:pt idx="1">
                  <c:v>0.352</c:v>
                </c:pt>
                <c:pt idx="2">
                  <c:v>0.128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Buenas. Soy Noelia y os presento CineChef. El objetivo: que una base de datos SQL Server 2025 recomiende qué película ver y qué cocinar esa noche, sin saltarse alergias ni la edad del usuario. Todo corre en local. Voy a contar el problema, la arquitectura, qué funcionalidades del DP-800 he implementado, una demo en directo y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[0:30–1:15] Elegir película y cena es una decisión doble y la gente la describe con sensaciones, no con filtros. Un buscador por palabra clave no lo entiende. Además hay un requisito de seguridad: nunca recomendar algo con un alérgeno del usuario ni una película no apta para su edad. Los datos son ficticios: 100 películas, 100 recetas, 120 ingredientes, 14 alérgenos y 10 usuarios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[1:15–2:00] Todo ocurre dentro de SQL Server 2025: tablas, vectores, Full-Text, procedimientos y seguridad. El modelo de embeddings es un ONNX local, así que no hay llamadas a servicios externos. La única pieza fuera del motor es GitHub Copilot Chat, que redacta la respuesta del RAG; no se puede invocar desde T-SQL, por eso es un paso manual y luego SQL verifica lo que ha dicho.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[2:00–2:45] El modelo tiene 11 tablas de dominio y 4 de soporte, con claves, restricciones y relaciones N:M, por ejemplo receta–ingrediente e ingrediente–alérgeno. Usa el tipo VECTOR de 384 dimensiones y la distancia coseno. Los embeddings los genera el propio motor con AI_GENERATE_EMBEDDINGS y un modelo ONNX local. El diagrama entidad-relación completo está en el PDF y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[2:45–3:30] Seis bloques. Búsqueda: vector, texto completo y híbrida con Reciprocal Rank Fusion. RAG: un procedimiento construye el prompt con el contexto recuperado y otro verifica la respuesta. Seguridad: roles con mínimo privilegio, Row-Level Security, Dynamic Data Masking y EXECUTE AS. Rendimiento: medí planes de ejecución y probé el índice vectorial DiskANN. IA asistida: siete interacciones con Copilot, todas contrastadas por mí. Y 125 pruebas automáticas.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[3:30–6:00] DEMO EN DIRECTO en SSMS, con CineChefDB abierto y los scripts ya cargados. Paso 1 (45 s): ejecutar usp_SearchRecipes con la frase en inglés y el usuario 9; mostrar que devuelve recetas sin sus alérgenos. Paso 2 (75 s): ejecutar usp_BuildRagPrompt, copiar el prompt a Copilot Chat, y enseñar usp_VerifyRagAnswer sobre una sesión ya guardada (RagId de la demo previa) para no depender de la red. Paso 3 (45 s): EXECUTE AS cc_isaac, SELECT de Users devuelve solo su fila, y REVERT. PLAN B si algo falla: las capturas de respaldo que se ven en esta misma diapositiva (también en docs/evidencias del repositorio y en el PDF). Scripts: ai/11_rag_demo.sql y tests/security_demo.sql.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[6:00–7:15] Tres resultados. Uno, búsqueda: fue peor de lo esperado y lo cuento tal cual. En sondas de intención el texto obtiene MRR 0,49, la híbrida 0,35 y el vector 0,13; muestra pequeña, orienta pero no es una medición general; el modelo MiniLM además no entiende español. Dos, rendimiento: el índice sobre IngredientId reduce 16,5 veces las lecturas de la consulta de alérgenos, de 1 859 a 113. El índice vectorial DiskANN tuvo recall 10 de 11, pero deja la tabla en solo lectura, así que con 100 filas conviene la búsqueda exacta. Tres, RAG: con contexto, la verificación sale OK; sin contexto, el modelo inventó un plato, y la verificación marca REVISAR.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[7:15–8:00] Cierre. Lo que funciona bien: el diseño con todo dentro del motor, la seguridad verificada con 125 pruebas y un RAG comprobable por SQL. Lo que salió peor de lo esperado: la calidad semántica del modelo local y que el vector no supere al texto. Mejoras posibles: un modelo multilingüe, un RRF ponderado y salida estructurada en el RAG. Muchas gracias;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CineChef – La noche de peli perfecta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Objetivo: recomendar una película y una receta que casen, respetando alergias y edad, con SQL Server 2025 como único motor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Mini-proyecto DP-800 · Nivel 3 · Noelia Segura Herrero</a:t>
            </a:r>
            <a:endParaRPr lang="en-US" sz="1800" dirty="0"/>
          </a:p>
        </p:txBody>
      </p:sp>
      <p:sp>
        <p:nvSpPr>
          <p:cNvPr id="4" name="Repo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github.com/noeliaseguraherrero/cinechef-dp800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Problema que queremos resolver</a:t>
            </a:r>
            <a:endParaRPr lang="en-US" sz="3400" dirty="0"/>
          </a:p>
        </p:txBody>
      </p:sp>
      <p:sp>
        <p:nvSpPr>
          <p:cNvPr id="3" name="Problema"/>
          <p:cNvSpPr txBox="1"/>
          <p:nvPr/>
        </p:nvSpPr>
        <p:spPr>
          <a:xfrm>
            <a:off x="548640" y="12801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¿Qué veo y qué cocino?</a:t>
            </a:r>
            <a:endParaRPr lang="en-US" sz="2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Los buscadores filtran por género o ingrediente, pero no entienden sensaciones.</a:t>
            </a:r>
            <a:endParaRPr lang="en-US" sz="20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i="1" dirty="0">
                <a:solidFill>
                  <a:schemeClr val="accent2"/>
                </a:solidFill>
              </a:rPr>
              <a:t>«Estoy cansado, quiero algo reconfortante»</a:t>
            </a:r>
            <a:endParaRPr lang="en-US" sz="20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Y una recomendación nunca puede ser insegura: una receta con gluten para un celíaco, o una película no apta por edad, es un fallo grave.</a:t>
            </a:r>
            <a:endParaRPr lang="en-US" sz="2000" dirty="0"/>
          </a:p>
        </p:txBody>
      </p:sp>
      <p:sp>
        <p:nvSpPr>
          <p:cNvPr id="4" name="Tarjeta películas"/>
          <p:cNvSpPr/>
          <p:nvPr/>
        </p:nvSpPr>
        <p:spPr>
          <a:xfrm>
            <a:off x="4846320" y="137160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películas"/>
          <p:cNvSpPr txBox="1"/>
          <p:nvPr/>
        </p:nvSpPr>
        <p:spPr>
          <a:xfrm>
            <a:off x="48463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6" name="Etiqueta películas"/>
          <p:cNvSpPr txBox="1"/>
          <p:nvPr/>
        </p:nvSpPr>
        <p:spPr>
          <a:xfrm>
            <a:off x="493776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películas</a:t>
            </a:r>
            <a:endParaRPr lang="en-US" sz="1400" dirty="0"/>
          </a:p>
        </p:txBody>
      </p:sp>
      <p:sp>
        <p:nvSpPr>
          <p:cNvPr id="7" name="Tarjeta recetas"/>
          <p:cNvSpPr/>
          <p:nvPr/>
        </p:nvSpPr>
        <p:spPr>
          <a:xfrm>
            <a:off x="6858000" y="137160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recetas"/>
          <p:cNvSpPr txBox="1"/>
          <p:nvPr/>
        </p:nvSpPr>
        <p:spPr>
          <a:xfrm>
            <a:off x="685800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9" name="Etiqueta recetas"/>
          <p:cNvSpPr txBox="1"/>
          <p:nvPr/>
        </p:nvSpPr>
        <p:spPr>
          <a:xfrm>
            <a:off x="694944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recetas</a:t>
            </a:r>
            <a:endParaRPr lang="en-US" sz="1400" dirty="0"/>
          </a:p>
        </p:txBody>
      </p:sp>
      <p:sp>
        <p:nvSpPr>
          <p:cNvPr id="10" name="Tarjeta dimensiones por vector"/>
          <p:cNvSpPr/>
          <p:nvPr/>
        </p:nvSpPr>
        <p:spPr>
          <a:xfrm>
            <a:off x="4846320" y="292608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dimensiones por vector"/>
          <p:cNvSpPr txBox="1"/>
          <p:nvPr/>
        </p:nvSpPr>
        <p:spPr>
          <a:xfrm>
            <a:off x="484632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</a:t>
            </a:r>
            <a:endParaRPr lang="en-US" sz="4000" dirty="0"/>
          </a:p>
        </p:txBody>
      </p:sp>
      <p:sp>
        <p:nvSpPr>
          <p:cNvPr id="12" name="Etiqueta dimensiones por vector"/>
          <p:cNvSpPr txBox="1"/>
          <p:nvPr/>
        </p:nvSpPr>
        <p:spPr>
          <a:xfrm>
            <a:off x="493776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dimensiones por vector</a:t>
            </a:r>
            <a:endParaRPr lang="en-US" sz="1400" dirty="0"/>
          </a:p>
        </p:txBody>
      </p:sp>
      <p:sp>
        <p:nvSpPr>
          <p:cNvPr id="13" name="Tarjeta pruebas automáticas en OK"/>
          <p:cNvSpPr/>
          <p:nvPr/>
        </p:nvSpPr>
        <p:spPr>
          <a:xfrm>
            <a:off x="6858000" y="292608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fra pruebas automáticas en OK"/>
          <p:cNvSpPr txBox="1"/>
          <p:nvPr/>
        </p:nvSpPr>
        <p:spPr>
          <a:xfrm>
            <a:off x="685800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4000" dirty="0"/>
          </a:p>
        </p:txBody>
      </p:sp>
      <p:sp>
        <p:nvSpPr>
          <p:cNvPr id="15" name="Etiqueta pruebas automáticas en OK"/>
          <p:cNvSpPr txBox="1"/>
          <p:nvPr/>
        </p:nvSpPr>
        <p:spPr>
          <a:xfrm>
            <a:off x="694944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automáticas en 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Arquitectura</a:t>
            </a:r>
            <a:endParaRPr lang="en-US" sz="3400" dirty="0"/>
          </a:p>
        </p:txBody>
      </p:sp>
      <p:pic>
        <p:nvPicPr>
          <p:cNvPr id="3" name="Arquitectura" descr="Diagrama de arquitectura de CineChe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943600" cy="3246120"/>
          </a:xfrm>
          <a:prstGeom prst="rect">
            <a:avLst/>
          </a:prstGeom>
        </p:spPr>
      </p:pic>
      <p:sp>
        <p:nvSpPr>
          <p:cNvPr id="4" name="Puntos arquitectura"/>
          <p:cNvSpPr txBox="1"/>
          <p:nvPr/>
        </p:nvSpPr>
        <p:spPr>
          <a:xfrm>
            <a:off x="6583680" y="146304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Datos, lógica y seguridad dentro del motor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Embeddings con un modelo ONNX local (all-MiniLM-L6-v2)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Copilot solo redacta el RAG, en un paso manual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Base de datos SQL Server 2025</a:t>
            </a:r>
            <a:endParaRPr lang="en-US" sz="3400" dirty="0"/>
          </a:p>
        </p:txBody>
      </p:sp>
      <p:sp>
        <p:nvSpPr>
          <p:cNvPr id="3" name="Tarjeta modelo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arjeta motor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ítulo modelo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2000" dirty="0"/>
          </a:p>
        </p:txBody>
      </p:sp>
      <p:sp>
        <p:nvSpPr>
          <p:cNvPr id="6" name="Texto modelo"/>
          <p:cNvSpPr txBox="1"/>
          <p:nvPr/>
        </p:nvSpPr>
        <p:spPr>
          <a:xfrm>
            <a:off x="77724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 tablas de dominio + 4 de soporte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Películas, recetas, ingredientes, alérgenos, usuarios, planes de noche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Claves, CHECK y relaciones N:M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Procedimientos, vistas y funciones para la lógica</a:t>
            </a:r>
            <a:endParaRPr lang="en-US" sz="1400" dirty="0"/>
          </a:p>
        </p:txBody>
      </p:sp>
      <p:sp>
        <p:nvSpPr>
          <p:cNvPr id="7" name="Título motor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del motor</a:t>
            </a:r>
            <a:endParaRPr lang="en-US" sz="2000" dirty="0"/>
          </a:p>
        </p:txBody>
      </p:sp>
      <p:sp>
        <p:nvSpPr>
          <p:cNvPr id="8" name="Texto motor"/>
          <p:cNvSpPr txBox="1"/>
          <p:nvPr/>
        </p:nvSpPr>
        <p:spPr>
          <a:xfrm>
            <a:off x="489204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Server 2025 (17.0), compat. 170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Tipo VECTOR(384) y VECTOR_DISTANCE (coseno)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AI_GENERATE_EMBEDDINGS con ONNX local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Full-Text Search y funciones preview activadas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Funcionalidades DP-800 implementadas</a:t>
            </a:r>
            <a:endParaRPr lang="en-US" sz="3400" dirty="0"/>
          </a:p>
        </p:txBody>
      </p:sp>
      <p:sp>
        <p:nvSpPr>
          <p:cNvPr id="3" name="Tarjeta Búsqueda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rra Búsqueda"/>
          <p:cNvSpPr/>
          <p:nvPr/>
        </p:nvSpPr>
        <p:spPr>
          <a:xfrm>
            <a:off x="548640" y="146304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ítulo Búsqueda"/>
          <p:cNvSpPr txBox="1"/>
          <p:nvPr/>
        </p:nvSpPr>
        <p:spPr>
          <a:xfrm>
            <a:off x="7772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</a:t>
            </a:r>
            <a:endParaRPr lang="en-US" sz="1800" dirty="0"/>
          </a:p>
        </p:txBody>
      </p:sp>
      <p:sp>
        <p:nvSpPr>
          <p:cNvPr id="6" name="Texto Búsqueda"/>
          <p:cNvSpPr txBox="1"/>
          <p:nvPr/>
        </p:nvSpPr>
        <p:spPr>
          <a:xfrm>
            <a:off x="7772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Vector, Full-Text e híbrida con RRF (k=60)</a:t>
            </a:r>
            <a:endParaRPr lang="en-US" sz="1400" dirty="0"/>
          </a:p>
        </p:txBody>
      </p:sp>
      <p:sp>
        <p:nvSpPr>
          <p:cNvPr id="7" name="Tarjeta RAG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rra RAG"/>
          <p:cNvSpPr/>
          <p:nvPr/>
        </p:nvSpPr>
        <p:spPr>
          <a:xfrm>
            <a:off x="3291840" y="146304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ítulo RAG"/>
          <p:cNvSpPr txBox="1"/>
          <p:nvPr/>
        </p:nvSpPr>
        <p:spPr>
          <a:xfrm>
            <a:off x="35204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800" dirty="0"/>
          </a:p>
        </p:txBody>
      </p:sp>
      <p:sp>
        <p:nvSpPr>
          <p:cNvPr id="10" name="Texto RAG"/>
          <p:cNvSpPr txBox="1"/>
          <p:nvPr/>
        </p:nvSpPr>
        <p:spPr>
          <a:xfrm>
            <a:off x="35204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Prompt con contexto + verificación en SQL</a:t>
            </a:r>
            <a:endParaRPr lang="en-US" sz="1400" dirty="0"/>
          </a:p>
        </p:txBody>
      </p:sp>
      <p:sp>
        <p:nvSpPr>
          <p:cNvPr id="11" name="Tarjeta Seguridad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rra Seguridad"/>
          <p:cNvSpPr/>
          <p:nvPr/>
        </p:nvSpPr>
        <p:spPr>
          <a:xfrm>
            <a:off x="6035040" y="146304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ítulo Seguridad"/>
          <p:cNvSpPr txBox="1"/>
          <p:nvPr/>
        </p:nvSpPr>
        <p:spPr>
          <a:xfrm>
            <a:off x="626364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4" name="Texto Seguridad"/>
          <p:cNvSpPr txBox="1"/>
          <p:nvPr/>
        </p:nvSpPr>
        <p:spPr>
          <a:xfrm>
            <a:off x="62636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Roles, RLS, masking y EXECUTE AS</a:t>
            </a:r>
            <a:endParaRPr lang="en-US" sz="1400" dirty="0"/>
          </a:p>
        </p:txBody>
      </p:sp>
      <p:sp>
        <p:nvSpPr>
          <p:cNvPr id="15" name="Tarjeta Rendimiento"/>
          <p:cNvSpPr/>
          <p:nvPr/>
        </p:nvSpPr>
        <p:spPr>
          <a:xfrm>
            <a:off x="5486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rra Rendimiento"/>
          <p:cNvSpPr/>
          <p:nvPr/>
        </p:nvSpPr>
        <p:spPr>
          <a:xfrm>
            <a:off x="548640" y="310896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ítulo Rendimiento"/>
          <p:cNvSpPr txBox="1"/>
          <p:nvPr/>
        </p:nvSpPr>
        <p:spPr>
          <a:xfrm>
            <a:off x="7772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800" dirty="0"/>
          </a:p>
        </p:txBody>
      </p:sp>
      <p:sp>
        <p:nvSpPr>
          <p:cNvPr id="18" name="Texto Rendimiento"/>
          <p:cNvSpPr txBox="1"/>
          <p:nvPr/>
        </p:nvSpPr>
        <p:spPr>
          <a:xfrm>
            <a:off x="77724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Planes de ejecución, índices y DiskANN</a:t>
            </a:r>
            <a:endParaRPr lang="en-US" sz="1400" dirty="0"/>
          </a:p>
        </p:txBody>
      </p:sp>
      <p:sp>
        <p:nvSpPr>
          <p:cNvPr id="19" name="Tarjeta IA asistida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rra IA asistida"/>
          <p:cNvSpPr/>
          <p:nvPr/>
        </p:nvSpPr>
        <p:spPr>
          <a:xfrm>
            <a:off x="3291840" y="310896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ítulo IA asistida"/>
          <p:cNvSpPr txBox="1"/>
          <p:nvPr/>
        </p:nvSpPr>
        <p:spPr>
          <a:xfrm>
            <a:off x="35204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asistida</a:t>
            </a:r>
            <a:endParaRPr lang="en-US" sz="1800" dirty="0"/>
          </a:p>
        </p:txBody>
      </p:sp>
      <p:sp>
        <p:nvSpPr>
          <p:cNvPr id="22" name="Texto IA asistida"/>
          <p:cNvSpPr txBox="1"/>
          <p:nvPr/>
        </p:nvSpPr>
        <p:spPr>
          <a:xfrm>
            <a:off x="352044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interacciones con Copilot documentadas</a:t>
            </a:r>
            <a:endParaRPr lang="en-US" sz="1400" dirty="0"/>
          </a:p>
        </p:txBody>
      </p:sp>
      <p:sp>
        <p:nvSpPr>
          <p:cNvPr id="23" name="Tarjeta Calidad"/>
          <p:cNvSpPr/>
          <p:nvPr/>
        </p:nvSpPr>
        <p:spPr>
          <a:xfrm>
            <a:off x="6035040" y="292608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rra Calidad"/>
          <p:cNvSpPr/>
          <p:nvPr/>
        </p:nvSpPr>
        <p:spPr>
          <a:xfrm>
            <a:off x="6035040" y="3108960"/>
            <a:ext cx="64008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ítulo Calidad"/>
          <p:cNvSpPr txBox="1"/>
          <p:nvPr/>
        </p:nvSpPr>
        <p:spPr>
          <a:xfrm>
            <a:off x="626364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</a:t>
            </a:r>
            <a:endParaRPr lang="en-US" sz="1800" dirty="0"/>
          </a:p>
        </p:txBody>
      </p:sp>
      <p:sp>
        <p:nvSpPr>
          <p:cNvPr id="26" name="Texto Calidad"/>
          <p:cNvSpPr txBox="1"/>
          <p:nvPr/>
        </p:nvSpPr>
        <p:spPr>
          <a:xfrm>
            <a:off x="626364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125 pruebas automáticas con THROW 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Demostración en directo</a:t>
            </a:r>
            <a:endParaRPr lang="en-US" sz="3400" dirty="0"/>
          </a:p>
        </p:txBody>
      </p:sp>
      <p:sp>
        <p:nvSpPr>
          <p:cNvPr id="3" name="Tarjeta demo 1"/>
          <p:cNvSpPr/>
          <p:nvPr/>
        </p:nvSpPr>
        <p:spPr>
          <a:xfrm>
            <a:off x="54864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írculo 1"/>
          <p:cNvSpPr/>
          <p:nvPr/>
        </p:nvSpPr>
        <p:spPr>
          <a:xfrm>
            <a:off x="685800" y="1325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6858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ítulo demo 1"/>
          <p:cNvSpPr txBox="1"/>
          <p:nvPr/>
        </p:nvSpPr>
        <p:spPr>
          <a:xfrm>
            <a:off x="11887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</a:t>
            </a:r>
            <a:endParaRPr lang="en-US" sz="1800" dirty="0"/>
          </a:p>
        </p:txBody>
      </p:sp>
      <p:sp>
        <p:nvSpPr>
          <p:cNvPr id="7" name="Comando 1"/>
          <p:cNvSpPr txBox="1"/>
          <p:nvPr/>
        </p:nvSpPr>
        <p:spPr>
          <a:xfrm>
            <a:off x="6858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usp_SearchRecipes @UserId=9</a:t>
            </a:r>
            <a:endParaRPr lang="en-US" sz="1000" dirty="0"/>
          </a:p>
        </p:txBody>
      </p:sp>
      <p:sp>
        <p:nvSpPr>
          <p:cNvPr id="8" name="Marco captura 1"/>
          <p:cNvSpPr/>
          <p:nvPr/>
        </p:nvSpPr>
        <p:spPr>
          <a:xfrm>
            <a:off x="685800" y="2148840"/>
            <a:ext cx="228600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9" name="Captura 1" descr="Captura de respaldo: Búsque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39" y="2194560"/>
            <a:ext cx="2140921" cy="1828800"/>
          </a:xfrm>
          <a:prstGeom prst="rect">
            <a:avLst/>
          </a:prstGeom>
        </p:spPr>
      </p:pic>
      <p:sp>
        <p:nvSpPr>
          <p:cNvPr id="10" name="Esperado 1"/>
          <p:cNvSpPr txBox="1"/>
          <p:nvPr/>
        </p:nvSpPr>
        <p:spPr>
          <a:xfrm>
            <a:off x="685800" y="4133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Esperado: Solo recetas seguras</a:t>
            </a:r>
            <a:endParaRPr lang="en-US" sz="1200" dirty="0"/>
          </a:p>
        </p:txBody>
      </p:sp>
      <p:sp>
        <p:nvSpPr>
          <p:cNvPr id="11" name="Tarjeta demo 2"/>
          <p:cNvSpPr/>
          <p:nvPr/>
        </p:nvSpPr>
        <p:spPr>
          <a:xfrm>
            <a:off x="329184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írculo 2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úmero 2"/>
          <p:cNvSpPr txBox="1"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ítulo demo 2"/>
          <p:cNvSpPr txBox="1"/>
          <p:nvPr/>
        </p:nvSpPr>
        <p:spPr>
          <a:xfrm>
            <a:off x="39319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800" dirty="0"/>
          </a:p>
        </p:txBody>
      </p:sp>
      <p:sp>
        <p:nvSpPr>
          <p:cNvPr id="15" name="Comando 2"/>
          <p:cNvSpPr txBox="1"/>
          <p:nvPr/>
        </p:nvSpPr>
        <p:spPr>
          <a:xfrm>
            <a:off x="34290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usp_BuildRagPrompt → Copilot</a:t>
            </a:r>
            <a:endParaRPr lang="en-US" sz="1000" dirty="0"/>
          </a:p>
        </p:txBody>
      </p:sp>
      <p:sp>
        <p:nvSpPr>
          <p:cNvPr id="16" name="Marco captura 2"/>
          <p:cNvSpPr/>
          <p:nvPr/>
        </p:nvSpPr>
        <p:spPr>
          <a:xfrm>
            <a:off x="3429000" y="2148840"/>
            <a:ext cx="228600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17" name="Captura 2" descr="Captura de respaldo: R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49" y="2194560"/>
            <a:ext cx="1965902" cy="1828800"/>
          </a:xfrm>
          <a:prstGeom prst="rect">
            <a:avLst/>
          </a:prstGeom>
        </p:spPr>
      </p:pic>
      <p:sp>
        <p:nvSpPr>
          <p:cNvPr id="18" name="Esperado 2"/>
          <p:cNvSpPr txBox="1"/>
          <p:nvPr/>
        </p:nvSpPr>
        <p:spPr>
          <a:xfrm>
            <a:off x="3429000" y="4133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Esperado: Prompt con contexto</a:t>
            </a:r>
            <a:endParaRPr lang="en-US" sz="1200" dirty="0"/>
          </a:p>
        </p:txBody>
      </p:sp>
      <p:sp>
        <p:nvSpPr>
          <p:cNvPr id="19" name="Tarjeta demo 3"/>
          <p:cNvSpPr/>
          <p:nvPr/>
        </p:nvSpPr>
        <p:spPr>
          <a:xfrm>
            <a:off x="6035040" y="1188720"/>
            <a:ext cx="2560320" cy="34290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írculo 3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úmero 3"/>
          <p:cNvSpPr txBox="1"/>
          <p:nvPr/>
        </p:nvSpPr>
        <p:spPr>
          <a:xfrm>
            <a:off x="6172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ítulo demo 3"/>
          <p:cNvSpPr txBox="1"/>
          <p:nvPr/>
        </p:nvSpPr>
        <p:spPr>
          <a:xfrm>
            <a:off x="66751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23" name="Comando 3"/>
          <p:cNvSpPr txBox="1"/>
          <p:nvPr/>
        </p:nvSpPr>
        <p:spPr>
          <a:xfrm>
            <a:off x="617220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AS USER = cc_isaac</a:t>
            </a:r>
            <a:endParaRPr lang="en-US" sz="1000" dirty="0"/>
          </a:p>
        </p:txBody>
      </p:sp>
      <p:sp>
        <p:nvSpPr>
          <p:cNvPr id="24" name="Marco captura 3"/>
          <p:cNvSpPr/>
          <p:nvPr/>
        </p:nvSpPr>
        <p:spPr>
          <a:xfrm>
            <a:off x="6172200" y="2148840"/>
            <a:ext cx="228600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25" name="Captura 3" descr="Captura de respaldo: Segurid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809" y="2194560"/>
            <a:ext cx="1460782" cy="1828800"/>
          </a:xfrm>
          <a:prstGeom prst="rect">
            <a:avLst/>
          </a:prstGeom>
        </p:spPr>
      </p:pic>
      <p:sp>
        <p:nvSpPr>
          <p:cNvPr id="26" name="Esperado 3"/>
          <p:cNvSpPr txBox="1"/>
          <p:nvPr/>
        </p:nvSpPr>
        <p:spPr>
          <a:xfrm>
            <a:off x="6172200" y="41330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Esperado: Solo ve su fila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Resultados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2926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arco Copilot"/>
          <p:cNvSpPr/>
          <p:nvPr/>
        </p:nvSpPr>
        <p:spPr>
          <a:xfrm>
            <a:off x="3429000" y="1143000"/>
            <a:ext cx="3284583" cy="2834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5" name="Captura Copilot" descr="Respuesta real de GitHub Copilot Chat con el prompt RAG: sugiere receta y pelícu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43000"/>
            <a:ext cx="3284583" cy="2834640"/>
          </a:xfrm>
          <a:prstGeom prst="rect">
            <a:avLst/>
          </a:prstGeom>
        </p:spPr>
      </p:pic>
      <p:sp>
        <p:nvSpPr>
          <p:cNvPr id="6" name="Pie Copilot"/>
          <p:cNvSpPr txBox="1"/>
          <p:nvPr/>
        </p:nvSpPr>
        <p:spPr>
          <a:xfrm>
            <a:off x="3429000" y="4005072"/>
            <a:ext cx="32845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Copilot con contexto RAG: receta [R68] + película [M5]</a:t>
            </a:r>
            <a:endParaRPr lang="en-US" sz="1100" dirty="0"/>
          </a:p>
        </p:txBody>
      </p:sp>
      <p:sp>
        <p:nvSpPr>
          <p:cNvPr id="7" name="Tarjeta rendimiento"/>
          <p:cNvSpPr/>
          <p:nvPr/>
        </p:nvSpPr>
        <p:spPr>
          <a:xfrm>
            <a:off x="6903720" y="1143000"/>
            <a:ext cx="1783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arjeta pruebas"/>
          <p:cNvSpPr/>
          <p:nvPr/>
        </p:nvSpPr>
        <p:spPr>
          <a:xfrm>
            <a:off x="6903720" y="260604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fra rendimiento"/>
          <p:cNvSpPr txBox="1"/>
          <p:nvPr/>
        </p:nvSpPr>
        <p:spPr>
          <a:xfrm>
            <a:off x="6903720" y="1188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16,5×</a:t>
            </a:r>
            <a:endParaRPr lang="en-US" sz="3200" dirty="0"/>
          </a:p>
        </p:txBody>
      </p:sp>
      <p:sp>
        <p:nvSpPr>
          <p:cNvPr id="10" name="Texto rendimiento"/>
          <p:cNvSpPr txBox="1"/>
          <p:nvPr/>
        </p:nvSpPr>
        <p:spPr>
          <a:xfrm>
            <a:off x="6949440" y="1783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menos lecturas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(1 859 → 113)</a:t>
            </a:r>
            <a:endParaRPr lang="en-US" sz="1200" dirty="0"/>
          </a:p>
        </p:txBody>
      </p:sp>
      <p:sp>
        <p:nvSpPr>
          <p:cNvPr id="11" name="Cifra pruebas"/>
          <p:cNvSpPr txBox="1"/>
          <p:nvPr/>
        </p:nvSpPr>
        <p:spPr>
          <a:xfrm>
            <a:off x="6903720" y="265176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3200" dirty="0"/>
          </a:p>
        </p:txBody>
      </p:sp>
      <p:sp>
        <p:nvSpPr>
          <p:cNvPr id="12" name="Texto pruebas"/>
          <p:cNvSpPr txBox="1"/>
          <p:nvPr/>
        </p:nvSpPr>
        <p:spPr>
          <a:xfrm>
            <a:off x="6949440" y="32461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pruebas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automáticas en OK</a:t>
            </a:r>
            <a:endParaRPr lang="en-US" sz="1200" dirty="0"/>
          </a:p>
        </p:txBody>
      </p:sp>
      <p:sp>
        <p:nvSpPr>
          <p:cNvPr id="13" name="Franja RAG"/>
          <p:cNvSpPr/>
          <p:nvPr/>
        </p:nvSpPr>
        <p:spPr>
          <a:xfrm>
            <a:off x="365760" y="4297680"/>
            <a:ext cx="83210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o franja"/>
          <p:cNvSpPr txBox="1"/>
          <p:nvPr/>
        </p:nvSpPr>
        <p:spPr>
          <a:xfrm>
            <a:off x="50292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 RAG: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verificación OK.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Sin RAG: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inventó un ramen «sin gluten» → REVISAR.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DiskANN: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recall 10/11, tabla de solo lectura.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Conclusiones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La base de datos es la fuente de verdad, no el modelo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Resultados honestos: el texto supera al vector en este catálogo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Mejoras: modelo multilingüe, RRF ponderado, salida estructurada en el RAG</a:t>
            </a:r>
            <a:endParaRPr lang="en-US" sz="1800" dirty="0"/>
          </a:p>
        </p:txBody>
      </p:sp>
      <p:sp>
        <p:nvSpPr>
          <p:cNvPr id="4" name="Repo final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github.com/noeliaseguraherrero/cinechef-dp800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Chef">
  <a:themeElements>
    <a:clrScheme name="CineChef">
      <a:dk1>
        <a:srgbClr val="1B1B2F"/>
      </a:dk1>
      <a:lt1>
        <a:srgbClr val="FFFFFF"/>
      </a:lt1>
      <a:dk2>
        <a:srgbClr val="3B2F63"/>
      </a:dk2>
      <a:lt2>
        <a:srgbClr val="F3EFFB"/>
      </a:lt2>
      <a:accent1>
        <a:srgbClr val="F5A524"/>
      </a:accent1>
      <a:accent2>
        <a:srgbClr val="6B46C1"/>
      </a:accent2>
      <a:accent3>
        <a:srgbClr val="2F9E8F"/>
      </a:accent3>
      <a:accent4>
        <a:srgbClr val="D64545"/>
      </a:accent4>
      <a:accent5>
        <a:srgbClr val="8B8FA3"/>
      </a:accent5>
      <a:accent6>
        <a:srgbClr val="4C6EF5"/>
      </a:accent6>
      <a:hlink>
        <a:srgbClr val="6B46C1"/>
      </a:hlink>
      <a:folHlink>
        <a:srgbClr val="8B8FA3"/>
      </a:folHlink>
    </a:clrScheme>
    <a:fontScheme name="CineChef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CineChef – La noche de peli perfecta</dc:title>
  <dc:subject>PptxGenJS Presentation</dc:subject>
  <dc:creator>Noelia Segura Herrero</dc:creator>
  <cp:lastModifiedBy>Noelia Segura Herrero</cp:lastModifiedBy>
  <cp:revision>1</cp:revision>
  <dcterms:created xsi:type="dcterms:W3CDTF">2026-10-26T21:17:51Z</dcterms:created>
  <dcterms:modified xsi:type="dcterms:W3CDTF">2026-10-26T21:17:51Z</dcterms:modified>
</cp:coreProperties>
</file>